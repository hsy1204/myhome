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918DE6-3EF0-4527-91BF-5E2EE19D7030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463A92-82AB-4839-8711-633BDB09D1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1026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 bwMode="gray">
          <a:xfrm>
            <a:off x="670560" y="1984248"/>
            <a:ext cx="10948416" cy="2953512"/>
          </a:xfrm>
          <a:prstGeom prst="roundRect">
            <a:avLst>
              <a:gd name="adj" fmla="val 5521"/>
            </a:avLst>
          </a:prstGeom>
          <a:gradFill>
            <a:gsLst>
              <a:gs pos="0">
                <a:schemeClr val="bg1">
                  <a:alpha val="79000"/>
                </a:schemeClr>
              </a:gs>
              <a:gs pos="30000">
                <a:schemeClr val="bg2"/>
              </a:gs>
              <a:gs pos="66000">
                <a:schemeClr val="bg2"/>
              </a:gs>
              <a:gs pos="100000">
                <a:schemeClr val="bg1">
                  <a:alpha val="61000"/>
                </a:schemeClr>
              </a:gs>
            </a:gsLst>
            <a:lin ang="5400000" scaled="1"/>
          </a:gradFill>
          <a:ln w="38100">
            <a:solidFill>
              <a:schemeClr val="bg2">
                <a:lumMod val="20000"/>
                <a:lumOff val="80000"/>
              </a:schemeClr>
            </a:solidFill>
          </a:ln>
          <a:effectLst>
            <a:outerShdw sx="1000" sy="1000" algn="ctr" rotWithShape="0">
              <a:srgbClr val="000000"/>
            </a:outerShdw>
          </a:effectLst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950976" y="2432304"/>
            <a:ext cx="10363200" cy="1353312"/>
          </a:xfrm>
        </p:spPr>
        <p:txBody>
          <a:bodyPr>
            <a:noAutofit/>
            <a:scene3d>
              <a:camera prst="orthographicFront"/>
              <a:lightRig rig="flat" dir="t">
                <a:rot lat="0" lon="0" rev="6600000"/>
              </a:lightRig>
            </a:scene3d>
            <a:sp3d extrusionH="25400" contourW="8890">
              <a:bevelT w="38100" h="31750"/>
              <a:contourClr>
                <a:schemeClr val="tx2">
                  <a:lumMod val="90000"/>
                </a:schemeClr>
              </a:contourClr>
            </a:sp3d>
          </a:bodyPr>
          <a:lstStyle>
            <a:lvl1pPr>
              <a:defRPr sz="4800">
                <a:gradFill>
                  <a:gsLst>
                    <a:gs pos="0">
                      <a:schemeClr val="tx2"/>
                    </a:gs>
                    <a:gs pos="75000">
                      <a:schemeClr val="tx2">
                        <a:lumMod val="75000"/>
                      </a:schemeClr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5400000" scaled="0"/>
                </a:gradFill>
                <a:effectLst>
                  <a:outerShdw blurRad="50800" dist="39370" dir="5460000" algn="ctr" rotWithShape="0">
                    <a:srgbClr val="000000">
                      <a:alpha val="38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804416" y="3785616"/>
            <a:ext cx="8534400" cy="7589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D5247-7DF5-4327-BD81-CBEA695029A5}" type="datetime1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5AED-71A1-493A-89D3-D69D4F29E4C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Rounded Rectangle 9"/>
          <p:cNvSpPr/>
          <p:nvPr/>
        </p:nvSpPr>
        <p:spPr bwMode="gray">
          <a:xfrm>
            <a:off x="1146048" y="1719072"/>
            <a:ext cx="9997440" cy="429768"/>
          </a:xfrm>
          <a:prstGeom prst="roundRect">
            <a:avLst>
              <a:gd name="adj" fmla="val 23050"/>
            </a:avLst>
          </a:prstGeom>
          <a:gradFill>
            <a:gsLst>
              <a:gs pos="0">
                <a:schemeClr val="bg2">
                  <a:lumMod val="75000"/>
                </a:schemeClr>
              </a:gs>
              <a:gs pos="67000">
                <a:schemeClr val="bg2">
                  <a:lumMod val="60000"/>
                  <a:lumOff val="40000"/>
                </a:schemeClr>
              </a:gs>
              <a:gs pos="98000">
                <a:schemeClr val="bg2">
                  <a:lumMod val="60000"/>
                  <a:lumOff val="40000"/>
                </a:schemeClr>
              </a:gs>
              <a:gs pos="100000">
                <a:schemeClr val="bg2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sx="1000" sy="1000" algn="ctr" rotWithShape="0">
              <a:srgbClr val="000000"/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ounded Rectangle 10"/>
          <p:cNvSpPr/>
          <p:nvPr/>
        </p:nvSpPr>
        <p:spPr bwMode="gray">
          <a:xfrm>
            <a:off x="1146048" y="4718304"/>
            <a:ext cx="9997440" cy="429768"/>
          </a:xfrm>
          <a:prstGeom prst="roundRect">
            <a:avLst>
              <a:gd name="adj" fmla="val 25178"/>
            </a:avLst>
          </a:prstGeom>
          <a:gradFill>
            <a:gsLst>
              <a:gs pos="0">
                <a:schemeClr val="bg2">
                  <a:lumMod val="75000"/>
                </a:schemeClr>
              </a:gs>
              <a:gs pos="78000">
                <a:schemeClr val="bg2">
                  <a:lumMod val="60000"/>
                  <a:lumOff val="40000"/>
                </a:schemeClr>
              </a:gs>
              <a:gs pos="75000">
                <a:schemeClr val="bg2">
                  <a:lumMod val="60000"/>
                  <a:lumOff val="40000"/>
                </a:schemeClr>
              </a:gs>
              <a:gs pos="100000">
                <a:schemeClr val="bg2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sx="1000" sy="1000" algn="ctr" rotWithShape="0">
              <a:srgbClr val="000000"/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ounded Rectangle 11"/>
          <p:cNvSpPr/>
          <p:nvPr/>
        </p:nvSpPr>
        <p:spPr bwMode="gray">
          <a:xfrm>
            <a:off x="7522464" y="1801368"/>
            <a:ext cx="3328416" cy="265176"/>
          </a:xfrm>
          <a:prstGeom prst="roundRect">
            <a:avLst>
              <a:gd name="adj" fmla="val 21911"/>
            </a:avLst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chemeClr val="bg2">
                  <a:lumMod val="75000"/>
                </a:schemeClr>
              </a:gs>
            </a:gsLst>
            <a:lin ang="5400000" scaled="0"/>
          </a:gradFill>
          <a:ln>
            <a:solidFill>
              <a:schemeClr val="bg2">
                <a:lumMod val="60000"/>
                <a:lumOff val="40000"/>
              </a:schemeClr>
            </a:solidFill>
          </a:ln>
          <a:effectLst>
            <a:outerShdw sx="1000" sy="1000" algn="ctr" rotWithShape="0">
              <a:srgbClr val="000000"/>
            </a:outerShdw>
          </a:effectLst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8" name="Group 17"/>
          <p:cNvGrpSpPr/>
          <p:nvPr/>
        </p:nvGrpSpPr>
        <p:grpSpPr bwMode="ltGray">
          <a:xfrm>
            <a:off x="7644384" y="1892808"/>
            <a:ext cx="1133856" cy="73152"/>
            <a:chOff x="5733288" y="1874520"/>
            <a:chExt cx="850392" cy="73152"/>
          </a:xfrm>
          <a:effectLst>
            <a:glow rad="63500">
              <a:schemeClr val="tx1">
                <a:alpha val="40000"/>
              </a:schemeClr>
            </a:glow>
            <a:outerShdw blurRad="50800" dist="50800" dir="5400000" algn="ctr" rotWithShape="0">
              <a:schemeClr val="accent1">
                <a:lumMod val="20000"/>
                <a:lumOff val="80000"/>
                <a:alpha val="21000"/>
              </a:schemeClr>
            </a:outerShdw>
          </a:effectLst>
        </p:grpSpPr>
        <p:sp>
          <p:nvSpPr>
            <p:cNvPr id="13" name="Oval 12"/>
            <p:cNvSpPr/>
            <p:nvPr userDrawn="1"/>
          </p:nvSpPr>
          <p:spPr bwMode="ltGray">
            <a:xfrm>
              <a:off x="5733288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Oval 13"/>
            <p:cNvSpPr/>
            <p:nvPr userDrawn="1"/>
          </p:nvSpPr>
          <p:spPr bwMode="ltGray">
            <a:xfrm>
              <a:off x="5925312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Oval 14"/>
            <p:cNvSpPr/>
            <p:nvPr userDrawn="1"/>
          </p:nvSpPr>
          <p:spPr bwMode="ltGray">
            <a:xfrm>
              <a:off x="6117336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Oval 15"/>
            <p:cNvSpPr/>
            <p:nvPr userDrawn="1"/>
          </p:nvSpPr>
          <p:spPr bwMode="ltGray">
            <a:xfrm>
              <a:off x="6309360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Oval 16"/>
            <p:cNvSpPr/>
            <p:nvPr userDrawn="1"/>
          </p:nvSpPr>
          <p:spPr bwMode="ltGray">
            <a:xfrm>
              <a:off x="6510528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384848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 bwMode="gray">
          <a:xfrm>
            <a:off x="377952" y="292608"/>
            <a:ext cx="11436096" cy="6227064"/>
          </a:xfrm>
          <a:prstGeom prst="roundRect">
            <a:avLst>
              <a:gd name="adj" fmla="val 3186"/>
            </a:avLst>
          </a:prstGeom>
          <a:gradFill flip="none" rotWithShape="1">
            <a:gsLst>
              <a:gs pos="45000">
                <a:schemeClr val="bg2">
                  <a:alpha val="60000"/>
                </a:schemeClr>
              </a:gs>
              <a:gs pos="100000">
                <a:schemeClr val="bg1">
                  <a:lumMod val="95000"/>
                  <a:lumOff val="5000"/>
                  <a:alpha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670560" y="457200"/>
            <a:ext cx="10863072" cy="950976"/>
          </a:xfr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flat" dir="t">
                <a:rot lat="0" lon="0" rev="6600000"/>
              </a:lightRig>
            </a:scene3d>
            <a:sp3d extrusionH="25400" contourW="8890">
              <a:bevelT w="38100" h="31750"/>
              <a:contourClr>
                <a:schemeClr val="tx2">
                  <a:lumMod val="9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1" kern="1200" smtClean="0">
                <a:gradFill>
                  <a:gsLst>
                    <a:gs pos="0">
                      <a:schemeClr val="tx2"/>
                    </a:gs>
                    <a:gs pos="75000">
                      <a:schemeClr val="tx2">
                        <a:lumMod val="75000"/>
                      </a:schemeClr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5400000" scaled="0"/>
                </a:gradFill>
                <a:effectLst>
                  <a:outerShdw blurRad="50800" dist="39370" dir="5460000" algn="ctr" rotWithShape="0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560" y="1572768"/>
            <a:ext cx="10826496" cy="482803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AC935-38C7-4287-A3CD-5B33487849AA}" type="datetime1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5AED-71A1-493A-89D3-D69D4F29E4C9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0" name="Group 9"/>
          <p:cNvGrpSpPr/>
          <p:nvPr/>
        </p:nvGrpSpPr>
        <p:grpSpPr bwMode="gray">
          <a:xfrm>
            <a:off x="731520" y="164592"/>
            <a:ext cx="377952" cy="283464"/>
            <a:chOff x="548640" y="173736"/>
            <a:chExt cx="283464" cy="283464"/>
          </a:xfrm>
        </p:grpSpPr>
        <p:sp>
          <p:nvSpPr>
            <p:cNvPr id="9" name="Oval 8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Oval 7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1" name="Group 10"/>
          <p:cNvGrpSpPr/>
          <p:nvPr/>
        </p:nvGrpSpPr>
        <p:grpSpPr bwMode="gray">
          <a:xfrm>
            <a:off x="1219200" y="164592"/>
            <a:ext cx="377952" cy="283464"/>
            <a:chOff x="548640" y="173736"/>
            <a:chExt cx="283464" cy="283464"/>
          </a:xfrm>
        </p:grpSpPr>
        <p:sp>
          <p:nvSpPr>
            <p:cNvPr id="12" name="Oval 11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Oval 12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4" name="Group 13"/>
          <p:cNvGrpSpPr/>
          <p:nvPr/>
        </p:nvGrpSpPr>
        <p:grpSpPr bwMode="gray">
          <a:xfrm>
            <a:off x="1719072" y="164592"/>
            <a:ext cx="377952" cy="283464"/>
            <a:chOff x="548640" y="173736"/>
            <a:chExt cx="283464" cy="283464"/>
          </a:xfrm>
        </p:grpSpPr>
        <p:sp>
          <p:nvSpPr>
            <p:cNvPr id="15" name="Oval 14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Oval 15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551961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 bwMode="gray">
          <a:xfrm>
            <a:off x="670560" y="3712464"/>
            <a:ext cx="10863072" cy="2139696"/>
          </a:xfrm>
          <a:prstGeom prst="roundRect">
            <a:avLst>
              <a:gd name="adj" fmla="val 9795"/>
            </a:avLst>
          </a:prstGeom>
          <a:gradFill>
            <a:gsLst>
              <a:gs pos="0">
                <a:schemeClr val="bg1">
                  <a:alpha val="79000"/>
                </a:schemeClr>
              </a:gs>
              <a:gs pos="30000">
                <a:schemeClr val="bg2"/>
              </a:gs>
              <a:gs pos="66000">
                <a:schemeClr val="bg2"/>
              </a:gs>
              <a:gs pos="100000">
                <a:schemeClr val="bg1">
                  <a:alpha val="61000"/>
                </a:schemeClr>
              </a:gs>
            </a:gsLst>
            <a:lin ang="5400000" scaled="1"/>
          </a:gradFill>
          <a:ln w="38100">
            <a:solidFill>
              <a:schemeClr val="bg2">
                <a:lumMod val="20000"/>
                <a:lumOff val="80000"/>
              </a:schemeClr>
            </a:solidFill>
          </a:ln>
          <a:effectLst>
            <a:outerShdw sx="1000" sy="1000" algn="ctr" rotWithShape="0">
              <a:srgbClr val="000000"/>
            </a:outerShdw>
          </a:effectLst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ounded Rectangle 8"/>
          <p:cNvSpPr/>
          <p:nvPr/>
        </p:nvSpPr>
        <p:spPr bwMode="gray">
          <a:xfrm>
            <a:off x="1146048" y="5641848"/>
            <a:ext cx="9997440" cy="429768"/>
          </a:xfrm>
          <a:prstGeom prst="roundRect">
            <a:avLst>
              <a:gd name="adj" fmla="val 25178"/>
            </a:avLst>
          </a:prstGeom>
          <a:gradFill>
            <a:gsLst>
              <a:gs pos="0">
                <a:schemeClr val="bg2">
                  <a:lumMod val="75000"/>
                </a:schemeClr>
              </a:gs>
              <a:gs pos="78000">
                <a:schemeClr val="bg2">
                  <a:lumMod val="60000"/>
                  <a:lumOff val="40000"/>
                </a:schemeClr>
              </a:gs>
              <a:gs pos="75000">
                <a:schemeClr val="bg2">
                  <a:lumMod val="60000"/>
                  <a:lumOff val="40000"/>
                </a:schemeClr>
              </a:gs>
              <a:gs pos="100000">
                <a:schemeClr val="bg2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sx="1000" sy="1000" algn="ctr" rotWithShape="0">
              <a:srgbClr val="000000"/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853440" y="3931920"/>
            <a:ext cx="10387584" cy="1719072"/>
          </a:xfr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flat" dir="t">
                <a:rot lat="0" lon="0" rev="6600000"/>
              </a:lightRig>
            </a:scene3d>
            <a:sp3d extrusionH="25400" contourW="8890">
              <a:bevelT w="38100" h="31750"/>
              <a:contourClr>
                <a:schemeClr val="tx2">
                  <a:lumMod val="9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800" b="1" kern="1200" smtClean="0">
                <a:gradFill>
                  <a:gsLst>
                    <a:gs pos="0">
                      <a:schemeClr val="tx2"/>
                    </a:gs>
                    <a:gs pos="75000">
                      <a:schemeClr val="tx2">
                        <a:lumMod val="75000"/>
                      </a:schemeClr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5400000" scaled="0"/>
                </a:gradFill>
                <a:effectLst>
                  <a:outerShdw blurRad="50800" dist="39370" dir="5460000" algn="ctr" rotWithShape="0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048" y="2642616"/>
            <a:ext cx="9997440" cy="740664"/>
          </a:xfrm>
        </p:spPr>
        <p:txBody>
          <a:bodyPr anchor="b"/>
          <a:lstStyle>
            <a:lvl1pPr marL="0" indent="0">
              <a:buNone/>
              <a:defRPr sz="2000"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6FD8-3F18-4135-9AD9-E191B52D6CAB}" type="datetime1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5AED-71A1-493A-89D3-D69D4F29E4C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Rounded Rectangle 7"/>
          <p:cNvSpPr/>
          <p:nvPr/>
        </p:nvSpPr>
        <p:spPr bwMode="gray">
          <a:xfrm>
            <a:off x="1146048" y="3502152"/>
            <a:ext cx="9997440" cy="429768"/>
          </a:xfrm>
          <a:prstGeom prst="roundRect">
            <a:avLst>
              <a:gd name="adj" fmla="val 23050"/>
            </a:avLst>
          </a:prstGeom>
          <a:gradFill>
            <a:gsLst>
              <a:gs pos="0">
                <a:schemeClr val="bg2">
                  <a:lumMod val="75000"/>
                </a:schemeClr>
              </a:gs>
              <a:gs pos="67000">
                <a:schemeClr val="bg2">
                  <a:lumMod val="60000"/>
                  <a:lumOff val="40000"/>
                </a:schemeClr>
              </a:gs>
              <a:gs pos="98000">
                <a:schemeClr val="bg2">
                  <a:lumMod val="60000"/>
                  <a:lumOff val="40000"/>
                </a:schemeClr>
              </a:gs>
              <a:gs pos="100000">
                <a:schemeClr val="bg2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sx="1000" sy="1000" algn="ctr" rotWithShape="0">
              <a:srgbClr val="000000"/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ounded Rectangle 9"/>
          <p:cNvSpPr/>
          <p:nvPr/>
        </p:nvSpPr>
        <p:spPr bwMode="gray">
          <a:xfrm>
            <a:off x="7522464" y="3584448"/>
            <a:ext cx="3328416" cy="265176"/>
          </a:xfrm>
          <a:prstGeom prst="roundRect">
            <a:avLst>
              <a:gd name="adj" fmla="val 21911"/>
            </a:avLst>
          </a:prstGeom>
          <a:gradFill>
            <a:gsLst>
              <a:gs pos="0">
                <a:schemeClr val="bg2">
                  <a:lumMod val="50000"/>
                </a:schemeClr>
              </a:gs>
              <a:gs pos="100000">
                <a:schemeClr val="bg2">
                  <a:lumMod val="75000"/>
                </a:schemeClr>
              </a:gs>
            </a:gsLst>
            <a:lin ang="5400000" scaled="0"/>
          </a:gradFill>
          <a:ln>
            <a:solidFill>
              <a:schemeClr val="bg2">
                <a:lumMod val="60000"/>
                <a:lumOff val="40000"/>
              </a:schemeClr>
            </a:solidFill>
          </a:ln>
          <a:effectLst>
            <a:outerShdw sx="1000" sy="1000" algn="ctr" rotWithShape="0">
              <a:srgbClr val="000000"/>
            </a:outerShdw>
          </a:effectLst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1" name="Group 10"/>
          <p:cNvGrpSpPr/>
          <p:nvPr/>
        </p:nvGrpSpPr>
        <p:grpSpPr bwMode="ltGray">
          <a:xfrm>
            <a:off x="7644384" y="3675888"/>
            <a:ext cx="1133856" cy="73152"/>
            <a:chOff x="5733288" y="1874520"/>
            <a:chExt cx="850392" cy="73152"/>
          </a:xfrm>
          <a:effectLst>
            <a:glow rad="63500">
              <a:schemeClr val="tx1">
                <a:alpha val="40000"/>
              </a:schemeClr>
            </a:glow>
            <a:outerShdw blurRad="50800" dist="50800" dir="5400000" algn="ctr" rotWithShape="0">
              <a:schemeClr val="accent1">
                <a:lumMod val="20000"/>
                <a:lumOff val="80000"/>
                <a:alpha val="21000"/>
              </a:schemeClr>
            </a:outerShdw>
          </a:effectLst>
        </p:grpSpPr>
        <p:sp>
          <p:nvSpPr>
            <p:cNvPr id="12" name="Oval 11"/>
            <p:cNvSpPr/>
            <p:nvPr userDrawn="1"/>
          </p:nvSpPr>
          <p:spPr bwMode="ltGray">
            <a:xfrm>
              <a:off x="5733288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Oval 12"/>
            <p:cNvSpPr/>
            <p:nvPr userDrawn="1"/>
          </p:nvSpPr>
          <p:spPr bwMode="ltGray">
            <a:xfrm>
              <a:off x="5925312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Oval 13"/>
            <p:cNvSpPr/>
            <p:nvPr userDrawn="1"/>
          </p:nvSpPr>
          <p:spPr bwMode="ltGray">
            <a:xfrm>
              <a:off x="6117336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Oval 14"/>
            <p:cNvSpPr/>
            <p:nvPr userDrawn="1"/>
          </p:nvSpPr>
          <p:spPr bwMode="ltGray">
            <a:xfrm>
              <a:off x="6309360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Oval 15"/>
            <p:cNvSpPr/>
            <p:nvPr userDrawn="1"/>
          </p:nvSpPr>
          <p:spPr bwMode="ltGray">
            <a:xfrm>
              <a:off x="6510528" y="1874520"/>
              <a:ext cx="73152" cy="7315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97512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 bwMode="gray">
          <a:xfrm>
            <a:off x="377952" y="1216152"/>
            <a:ext cx="11436096" cy="5294376"/>
          </a:xfrm>
          <a:prstGeom prst="roundRect">
            <a:avLst>
              <a:gd name="adj" fmla="val 3186"/>
            </a:avLst>
          </a:prstGeom>
          <a:gradFill flip="none" rotWithShape="1">
            <a:gsLst>
              <a:gs pos="45000">
                <a:schemeClr val="bg2">
                  <a:alpha val="60000"/>
                </a:schemeClr>
              </a:gs>
              <a:gs pos="100000">
                <a:schemeClr val="bg1">
                  <a:lumMod val="95000"/>
                  <a:lumOff val="5000"/>
                  <a:alpha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9" name="Group 8"/>
          <p:cNvGrpSpPr/>
          <p:nvPr/>
        </p:nvGrpSpPr>
        <p:grpSpPr bwMode="gray">
          <a:xfrm>
            <a:off x="926592" y="1078992"/>
            <a:ext cx="377952" cy="283464"/>
            <a:chOff x="548640" y="173736"/>
            <a:chExt cx="283464" cy="283464"/>
          </a:xfrm>
        </p:grpSpPr>
        <p:sp>
          <p:nvSpPr>
            <p:cNvPr id="10" name="Oval 9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Oval 10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2" name="Group 11"/>
          <p:cNvGrpSpPr/>
          <p:nvPr/>
        </p:nvGrpSpPr>
        <p:grpSpPr bwMode="gray">
          <a:xfrm>
            <a:off x="1402080" y="1078992"/>
            <a:ext cx="377952" cy="283464"/>
            <a:chOff x="548640" y="173736"/>
            <a:chExt cx="283464" cy="283464"/>
          </a:xfrm>
        </p:grpSpPr>
        <p:sp>
          <p:nvSpPr>
            <p:cNvPr id="13" name="Oval 12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Oval 13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5" name="Group 14"/>
          <p:cNvGrpSpPr/>
          <p:nvPr/>
        </p:nvGrpSpPr>
        <p:grpSpPr bwMode="gray">
          <a:xfrm>
            <a:off x="1901952" y="1078992"/>
            <a:ext cx="377952" cy="283464"/>
            <a:chOff x="548640" y="173736"/>
            <a:chExt cx="283464" cy="283464"/>
          </a:xfrm>
        </p:grpSpPr>
        <p:sp>
          <p:nvSpPr>
            <p:cNvPr id="16" name="Oval 15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Oval 16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609600" y="146304"/>
            <a:ext cx="10972800" cy="1069848"/>
          </a:xfr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flat" dir="t">
                <a:rot lat="0" lon="0" rev="6600000"/>
              </a:lightRig>
            </a:scene3d>
            <a:sp3d extrusionH="25400" contourW="8890">
              <a:bevelT w="38100" h="31750"/>
              <a:contourClr>
                <a:schemeClr val="tx2">
                  <a:lumMod val="9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1" kern="1200" smtClean="0">
                <a:gradFill>
                  <a:gsLst>
                    <a:gs pos="0">
                      <a:schemeClr val="tx2"/>
                    </a:gs>
                    <a:gs pos="75000">
                      <a:schemeClr val="tx2">
                        <a:lumMod val="75000"/>
                      </a:schemeClr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5400000" scaled="0"/>
                </a:gradFill>
                <a:effectLst>
                  <a:outerShdw blurRad="50800" dist="39370" dir="5460000" algn="ctr" rotWithShape="0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560" y="1554480"/>
            <a:ext cx="5291328" cy="4672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56960" y="1554480"/>
            <a:ext cx="5291328" cy="4672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E0328-2286-49D1-BA4D-02E7D82145F4}" type="datetime1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5AED-71A1-493A-89D3-D69D4F29E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853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 bwMode="gray">
          <a:xfrm>
            <a:off x="6193536" y="1371600"/>
            <a:ext cx="5620512" cy="5148072"/>
          </a:xfrm>
          <a:prstGeom prst="roundRect">
            <a:avLst>
              <a:gd name="adj" fmla="val 3186"/>
            </a:avLst>
          </a:prstGeom>
          <a:gradFill flip="none" rotWithShape="1">
            <a:gsLst>
              <a:gs pos="45000">
                <a:schemeClr val="bg2">
                  <a:alpha val="60000"/>
                </a:schemeClr>
              </a:gs>
              <a:gs pos="100000">
                <a:schemeClr val="bg1">
                  <a:lumMod val="95000"/>
                  <a:lumOff val="5000"/>
                  <a:alpha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ounded Rectangle 9"/>
          <p:cNvSpPr/>
          <p:nvPr/>
        </p:nvSpPr>
        <p:spPr bwMode="gray">
          <a:xfrm>
            <a:off x="377952" y="1371600"/>
            <a:ext cx="5620512" cy="5148072"/>
          </a:xfrm>
          <a:prstGeom prst="roundRect">
            <a:avLst>
              <a:gd name="adj" fmla="val 3186"/>
            </a:avLst>
          </a:prstGeom>
          <a:gradFill flip="none" rotWithShape="1">
            <a:gsLst>
              <a:gs pos="45000">
                <a:schemeClr val="bg2">
                  <a:alpha val="60000"/>
                </a:schemeClr>
              </a:gs>
              <a:gs pos="100000">
                <a:schemeClr val="bg1">
                  <a:lumMod val="95000"/>
                  <a:lumOff val="5000"/>
                  <a:alpha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609600" y="146304"/>
            <a:ext cx="10972800" cy="1143000"/>
          </a:xfr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flat" dir="t">
                <a:rot lat="0" lon="0" rev="6600000"/>
              </a:lightRig>
            </a:scene3d>
            <a:sp3d extrusionH="25400" contourW="8890">
              <a:bevelT w="38100" h="31750"/>
              <a:contourClr>
                <a:schemeClr val="tx2">
                  <a:lumMod val="9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1" kern="1200" smtClean="0">
                <a:gradFill>
                  <a:gsLst>
                    <a:gs pos="0">
                      <a:schemeClr val="tx2"/>
                    </a:gs>
                    <a:gs pos="75000">
                      <a:schemeClr val="tx2">
                        <a:lumMod val="75000"/>
                      </a:schemeClr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5400000" scaled="0"/>
                </a:gradFill>
                <a:effectLst>
                  <a:outerShdw blurRad="50800" dist="39370" dir="5460000" algn="ctr" rotWithShape="0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573024" y="1527048"/>
            <a:ext cx="5242560" cy="63976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3024" y="2322576"/>
            <a:ext cx="5242560" cy="40050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6376416" y="1527048"/>
            <a:ext cx="5242560" cy="63976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accent3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6416" y="2322576"/>
            <a:ext cx="5242560" cy="40050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9D87-57D9-4442-A340-B6A892298079}" type="datetime1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5AED-71A1-493A-89D3-D69D4F29E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43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CF50-5BA8-44A5-A950-0DD5527DD7DB}" type="datetime1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5AED-71A1-493A-89D3-D69D4F29E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973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ED25C-C129-4CC1-B258-CE8A0F8AB7AB}" type="datetime1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5AED-71A1-493A-89D3-D69D4F29E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960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 bwMode="gray">
          <a:xfrm>
            <a:off x="377952" y="292608"/>
            <a:ext cx="11436096" cy="6227064"/>
          </a:xfrm>
          <a:prstGeom prst="roundRect">
            <a:avLst>
              <a:gd name="adj" fmla="val 3186"/>
            </a:avLst>
          </a:prstGeom>
          <a:gradFill flip="none" rotWithShape="1">
            <a:gsLst>
              <a:gs pos="45000">
                <a:schemeClr val="bg2">
                  <a:alpha val="60000"/>
                </a:schemeClr>
              </a:gs>
              <a:gs pos="100000">
                <a:schemeClr val="bg1">
                  <a:lumMod val="95000"/>
                  <a:lumOff val="5000"/>
                  <a:alpha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75488" y="429768"/>
            <a:ext cx="4157472" cy="100584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072" y="429768"/>
            <a:ext cx="6912864" cy="586130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5488" y="1435608"/>
            <a:ext cx="4157472" cy="48554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7E6E5-5B36-40BD-954C-FEE01EA441C1}" type="datetime1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5AED-71A1-493A-89D3-D69D4F29E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0441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 bwMode="gray">
          <a:xfrm>
            <a:off x="377952" y="292608"/>
            <a:ext cx="11436096" cy="6227064"/>
          </a:xfrm>
          <a:prstGeom prst="roundRect">
            <a:avLst>
              <a:gd name="adj" fmla="val 3186"/>
            </a:avLst>
          </a:prstGeom>
          <a:gradFill flip="none" rotWithShape="1">
            <a:gsLst>
              <a:gs pos="45000">
                <a:schemeClr val="bg2">
                  <a:alpha val="60000"/>
                </a:schemeClr>
              </a:gs>
              <a:gs pos="100000">
                <a:schemeClr val="bg1">
                  <a:lumMod val="95000"/>
                  <a:lumOff val="5000"/>
                  <a:alpha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9" name="Group 8"/>
          <p:cNvGrpSpPr/>
          <p:nvPr/>
        </p:nvGrpSpPr>
        <p:grpSpPr bwMode="gray">
          <a:xfrm>
            <a:off x="731520" y="164592"/>
            <a:ext cx="377952" cy="283464"/>
            <a:chOff x="548640" y="173736"/>
            <a:chExt cx="283464" cy="283464"/>
          </a:xfrm>
        </p:grpSpPr>
        <p:sp>
          <p:nvSpPr>
            <p:cNvPr id="10" name="Oval 9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Oval 10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2" name="Group 11"/>
          <p:cNvGrpSpPr/>
          <p:nvPr/>
        </p:nvGrpSpPr>
        <p:grpSpPr bwMode="gray">
          <a:xfrm>
            <a:off x="1219200" y="164592"/>
            <a:ext cx="377952" cy="283464"/>
            <a:chOff x="548640" y="173736"/>
            <a:chExt cx="283464" cy="283464"/>
          </a:xfrm>
        </p:grpSpPr>
        <p:sp>
          <p:nvSpPr>
            <p:cNvPr id="13" name="Oval 12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Oval 13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5" name="Group 14"/>
          <p:cNvGrpSpPr/>
          <p:nvPr/>
        </p:nvGrpSpPr>
        <p:grpSpPr bwMode="gray">
          <a:xfrm>
            <a:off x="1719072" y="164592"/>
            <a:ext cx="377952" cy="283464"/>
            <a:chOff x="548640" y="173736"/>
            <a:chExt cx="283464" cy="283464"/>
          </a:xfrm>
        </p:grpSpPr>
        <p:sp>
          <p:nvSpPr>
            <p:cNvPr id="16" name="Oval 15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Oval 16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707136" y="3273552"/>
            <a:ext cx="3523488" cy="13716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4267200" y="612775"/>
            <a:ext cx="7205472" cy="4114800"/>
          </a:xfrm>
          <a:prstGeom prst="roundRect">
            <a:avLst>
              <a:gd name="adj" fmla="val 5778"/>
            </a:avLst>
          </a:prstGeom>
          <a:ln w="38100">
            <a:solidFill>
              <a:srgbClr val="FFFFFF">
                <a:alpha val="80000"/>
              </a:srgbClr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74464" y="4800600"/>
            <a:ext cx="6803136" cy="13716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BA4CD-F1E2-4455-BB39-5744C5A815B2}" type="datetime1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5AED-71A1-493A-89D3-D69D4F29E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4350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 vert="horz" lIns="91440" tIns="45720" rIns="91440" bIns="45720" rtlCol="0" anchor="ctr">
            <a:noAutofit/>
            <a:scene3d>
              <a:camera prst="orthographicFront"/>
              <a:lightRig rig="flat" dir="t">
                <a:rot lat="0" lon="0" rev="6600000"/>
              </a:lightRig>
            </a:scene3d>
            <a:sp3d extrusionH="25400" contourW="8890">
              <a:bevelT w="38100" h="31750"/>
              <a:contourClr>
                <a:schemeClr val="tx2">
                  <a:lumMod val="9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600" b="1" kern="1200" smtClean="0">
                <a:gradFill>
                  <a:gsLst>
                    <a:gs pos="0">
                      <a:schemeClr val="tx2"/>
                    </a:gs>
                    <a:gs pos="75000">
                      <a:schemeClr val="tx2">
                        <a:lumMod val="75000"/>
                      </a:schemeClr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5400000" scaled="0"/>
                </a:gradFill>
                <a:effectLst>
                  <a:outerShdw blurRad="50800" dist="39370" dir="5460000" algn="ctr" rotWithShape="0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EDB44-4DFE-44C3-8AC9-6894C5022504}" type="datetime1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5AED-71A1-493A-89D3-D69D4F29E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299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 bwMode="gray">
          <a:xfrm>
            <a:off x="377952" y="356616"/>
            <a:ext cx="9339072" cy="6089904"/>
          </a:xfrm>
          <a:prstGeom prst="roundRect">
            <a:avLst>
              <a:gd name="adj" fmla="val 3186"/>
            </a:avLst>
          </a:prstGeom>
          <a:gradFill flip="none" rotWithShape="1">
            <a:gsLst>
              <a:gs pos="45000">
                <a:schemeClr val="bg2">
                  <a:alpha val="60000"/>
                </a:schemeClr>
              </a:gs>
              <a:gs pos="100000">
                <a:schemeClr val="bg1">
                  <a:lumMod val="95000"/>
                  <a:lumOff val="5000"/>
                  <a:alpha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 extrusionH="76200" prstMaterial="matte">
            <a:bevelT w="50800" h="50800" prst="softRound"/>
            <a:bevelB w="50800" h="50800" prst="softRound"/>
            <a:extrusionClr>
              <a:schemeClr val="bg2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8" name="Group 7"/>
          <p:cNvGrpSpPr/>
          <p:nvPr/>
        </p:nvGrpSpPr>
        <p:grpSpPr bwMode="gray">
          <a:xfrm>
            <a:off x="731520" y="219456"/>
            <a:ext cx="377952" cy="283464"/>
            <a:chOff x="548640" y="173736"/>
            <a:chExt cx="283464" cy="283464"/>
          </a:xfrm>
        </p:grpSpPr>
        <p:sp>
          <p:nvSpPr>
            <p:cNvPr id="9" name="Oval 8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Oval 9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1" name="Group 10"/>
          <p:cNvGrpSpPr/>
          <p:nvPr/>
        </p:nvGrpSpPr>
        <p:grpSpPr bwMode="gray">
          <a:xfrm>
            <a:off x="1219200" y="219456"/>
            <a:ext cx="377952" cy="283464"/>
            <a:chOff x="548640" y="173736"/>
            <a:chExt cx="283464" cy="283464"/>
          </a:xfrm>
        </p:grpSpPr>
        <p:sp>
          <p:nvSpPr>
            <p:cNvPr id="12" name="Oval 11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Oval 12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4" name="Group 13"/>
          <p:cNvGrpSpPr/>
          <p:nvPr/>
        </p:nvGrpSpPr>
        <p:grpSpPr bwMode="gray">
          <a:xfrm>
            <a:off x="1719072" y="219456"/>
            <a:ext cx="377952" cy="283464"/>
            <a:chOff x="548640" y="173736"/>
            <a:chExt cx="283464" cy="283464"/>
          </a:xfrm>
        </p:grpSpPr>
        <p:sp>
          <p:nvSpPr>
            <p:cNvPr id="15" name="Oval 14"/>
            <p:cNvSpPr/>
            <p:nvPr userDrawn="1"/>
          </p:nvSpPr>
          <p:spPr bwMode="gray">
            <a:xfrm>
              <a:off x="548640" y="173736"/>
              <a:ext cx="283464" cy="283464"/>
            </a:xfrm>
            <a:prstGeom prst="ellipse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  <a:scene3d>
              <a:camera prst="orthographicFront"/>
              <a:lightRig rig="chilly" dir="t"/>
            </a:scene3d>
            <a:sp3d>
              <a:bevelT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Oval 15"/>
            <p:cNvSpPr/>
            <p:nvPr userDrawn="1"/>
          </p:nvSpPr>
          <p:spPr bwMode="gray">
            <a:xfrm>
              <a:off x="621792" y="246888"/>
              <a:ext cx="146304" cy="14630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scene3d>
              <a:camera prst="orthographicFront"/>
              <a:lightRig rig="balanced" dir="t"/>
            </a:scene3d>
            <a:sp3d contourW="12700" prstMaterial="matte">
              <a:bevelT/>
              <a:contourClr>
                <a:schemeClr val="accent4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gray">
          <a:xfrm>
            <a:off x="9814560" y="365760"/>
            <a:ext cx="1901952" cy="6062472"/>
          </a:xfrm>
        </p:spPr>
        <p:txBody>
          <a:bodyPr vert="eaVert">
            <a:scene3d>
              <a:camera prst="orthographicFront"/>
              <a:lightRig rig="flat" dir="t"/>
            </a:scene3d>
            <a:sp3d extrusionH="31750" contourW="8890">
              <a:bevelT w="38100" h="31750"/>
              <a:contourClr>
                <a:schemeClr val="tx2">
                  <a:lumMod val="90000"/>
                </a:schemeClr>
              </a:contourClr>
            </a:sp3d>
          </a:bodyPr>
          <a:lstStyle>
            <a:lvl1pPr>
              <a:defRPr>
                <a:gradFill flip="none" rotWithShape="1">
                  <a:gsLst>
                    <a:gs pos="0">
                      <a:schemeClr val="tx2"/>
                    </a:gs>
                    <a:gs pos="75000">
                      <a:schemeClr val="tx2">
                        <a:lumMod val="75000"/>
                      </a:schemeClr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5400000" scaled="0"/>
                  <a:tileRect/>
                </a:gradFill>
                <a:effectLst>
                  <a:outerShdw blurRad="50800" dist="39370" dir="5460000" algn="ctr" rotWithShape="0">
                    <a:srgbClr val="000000">
                      <a:alpha val="38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20" y="576072"/>
            <a:ext cx="8497824" cy="564184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2BEF-E392-455E-9B7E-2C4F69D754E5}" type="datetime1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5AED-71A1-493A-89D3-D69D4F29E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026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3">
              <a:alphaModFix amt="27000"/>
            </a:blip>
            <a:srcRect/>
            <a:tile tx="0" ty="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609600" y="6556248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14838-17CC-4EE2-ADC2-5FFC3C84410F}" type="datetime1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7754112" y="6556248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4669536" y="6556248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85AED-71A1-493A-89D3-D69D4F29E4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8392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DCE272-4CE5-D1BA-C4DC-05DC73B02C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인공지능과 </a:t>
            </a:r>
            <a:r>
              <a:rPr lang="ko-KR" altLang="en-US" dirty="0" err="1"/>
              <a:t>바이브</a:t>
            </a:r>
            <a:r>
              <a:rPr lang="ko-KR" altLang="en-US" dirty="0"/>
              <a:t> 코딩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17EF44-2E98-451D-D454-77B6B802F4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 err="1"/>
              <a:t>대송고등학교</a:t>
            </a:r>
            <a:endParaRPr lang="en-US" altLang="ko-KR" dirty="0"/>
          </a:p>
          <a:p>
            <a:r>
              <a:rPr lang="ko-KR" altLang="en-US" dirty="0" err="1"/>
              <a:t>황소윤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F37FE4-0CE9-0C32-1A90-4565C0F6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5AED-71A1-493A-89D3-D69D4F29E4C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91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C373A0-E6DB-5D1E-C8FD-7EDB2A06D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차례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577BC0-DA0E-686F-2FBD-D21C3536E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200000"/>
              </a:lnSpc>
            </a:pPr>
            <a:r>
              <a:rPr lang="ko-KR" altLang="en-US" dirty="0"/>
              <a:t>인공지능이란</a:t>
            </a:r>
            <a:r>
              <a:rPr lang="en-US" altLang="ko-KR" dirty="0"/>
              <a:t>?</a:t>
            </a:r>
          </a:p>
          <a:p>
            <a:pPr>
              <a:lnSpc>
                <a:spcPct val="200000"/>
              </a:lnSpc>
            </a:pPr>
            <a:r>
              <a:rPr lang="ko-KR" altLang="en-US" dirty="0"/>
              <a:t>인공지능의 종류와 특징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ko-KR" altLang="en-US" dirty="0" err="1"/>
              <a:t>공부란</a:t>
            </a:r>
            <a:r>
              <a:rPr lang="en-US" altLang="ko-KR" dirty="0"/>
              <a:t>?</a:t>
            </a:r>
          </a:p>
          <a:p>
            <a:pPr>
              <a:lnSpc>
                <a:spcPct val="200000"/>
              </a:lnSpc>
            </a:pPr>
            <a:r>
              <a:rPr lang="ko-KR" altLang="en-US" dirty="0"/>
              <a:t>시험 문제 </a:t>
            </a:r>
            <a:r>
              <a:rPr lang="en-US" altLang="ko-KR" dirty="0"/>
              <a:t>AI</a:t>
            </a:r>
            <a:r>
              <a:rPr lang="ko-KR" altLang="en-US" dirty="0"/>
              <a:t>로 풀어보기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en-US" altLang="ko-KR" dirty="0"/>
              <a:t>AI</a:t>
            </a:r>
            <a:r>
              <a:rPr lang="ko-KR" altLang="en-US" dirty="0"/>
              <a:t>를 학습도구</a:t>
            </a:r>
            <a:r>
              <a:rPr lang="en-US" altLang="ko-KR" dirty="0"/>
              <a:t>(</a:t>
            </a:r>
            <a:r>
              <a:rPr lang="ko-KR" altLang="en-US" dirty="0"/>
              <a:t>비서</a:t>
            </a:r>
            <a:r>
              <a:rPr lang="en-US" altLang="ko-KR" dirty="0"/>
              <a:t>)</a:t>
            </a:r>
            <a:r>
              <a:rPr lang="ko-KR" altLang="en-US" dirty="0"/>
              <a:t>로 활용하기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ko-KR" altLang="en-US" dirty="0"/>
              <a:t>코딩이란</a:t>
            </a:r>
            <a:r>
              <a:rPr lang="en-US" altLang="ko-KR" dirty="0"/>
              <a:t>?</a:t>
            </a:r>
          </a:p>
          <a:p>
            <a:pPr>
              <a:lnSpc>
                <a:spcPct val="200000"/>
              </a:lnSpc>
            </a:pPr>
            <a:r>
              <a:rPr lang="ko-KR" altLang="en-US" dirty="0" err="1"/>
              <a:t>바이브</a:t>
            </a:r>
            <a:r>
              <a:rPr lang="ko-KR" altLang="en-US" dirty="0"/>
              <a:t> 코딩이란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FDEBB6-8229-E1D2-0899-B7FE89E55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5AED-71A1-493A-89D3-D69D4F29E4C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6225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9C4BE3-78C8-CB8B-0342-F04A7B172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인공지능이란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FA9482-EA9B-1A95-491A-EB4DF8B41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ko-KR" altLang="en-US" sz="1500" dirty="0"/>
              <a:t>인간의 학습</a:t>
            </a:r>
            <a:r>
              <a:rPr lang="en-US" altLang="ko-KR" sz="1500" dirty="0"/>
              <a:t>, </a:t>
            </a:r>
            <a:r>
              <a:rPr lang="ko-KR" altLang="en-US" sz="1500" dirty="0"/>
              <a:t>추론</a:t>
            </a:r>
            <a:r>
              <a:rPr lang="en-US" altLang="ko-KR" sz="1500" dirty="0"/>
              <a:t>, </a:t>
            </a:r>
            <a:r>
              <a:rPr lang="ko-KR" altLang="en-US" sz="1500" dirty="0"/>
              <a:t>지각 등 지적 능력을 컴퓨터나 기계로 구현한 기술</a:t>
            </a:r>
            <a:endParaRPr lang="en-US" altLang="ko-KR" sz="1500" dirty="0"/>
          </a:p>
          <a:p>
            <a:pPr>
              <a:lnSpc>
                <a:spcPct val="200000"/>
              </a:lnSpc>
            </a:pPr>
            <a:r>
              <a:rPr lang="ko-KR" altLang="en-US" sz="1500" dirty="0"/>
              <a:t>방대한 데이터를 스스로 학습하여 상황을 판단하고 문제를 해결</a:t>
            </a:r>
            <a:endParaRPr lang="en-US" altLang="ko-KR" sz="1500" dirty="0"/>
          </a:p>
          <a:p>
            <a:pPr>
              <a:lnSpc>
                <a:spcPct val="200000"/>
              </a:lnSpc>
            </a:pPr>
            <a:r>
              <a:rPr lang="ko-KR" altLang="en-US" sz="1500" dirty="0"/>
              <a:t>인공지능을 구성하는 핵심 기술과</a:t>
            </a:r>
            <a:endParaRPr lang="en-US" altLang="ko-KR" sz="1500" dirty="0"/>
          </a:p>
          <a:p>
            <a:pPr lvl="1">
              <a:lnSpc>
                <a:spcPct val="200000"/>
              </a:lnSpc>
            </a:pPr>
            <a:r>
              <a:rPr lang="ko-KR" altLang="en-US" sz="1500" dirty="0" err="1"/>
              <a:t>머신러닝</a:t>
            </a:r>
            <a:r>
              <a:rPr lang="ko-KR" altLang="en-US" sz="1500" dirty="0"/>
              <a:t> </a:t>
            </a:r>
            <a:r>
              <a:rPr lang="en-US" altLang="ko-KR" sz="1500" dirty="0"/>
              <a:t>(Machine Learning): </a:t>
            </a:r>
            <a:r>
              <a:rPr lang="ko-KR" altLang="en-US" sz="1500" dirty="0"/>
              <a:t>기계가 수많은 데이터를 바탕으로 스스로 패턴을 학습하고 예측하는 기술</a:t>
            </a:r>
            <a:endParaRPr lang="en-US" altLang="ko-KR" sz="1500" dirty="0"/>
          </a:p>
          <a:p>
            <a:pPr lvl="1">
              <a:lnSpc>
                <a:spcPct val="200000"/>
              </a:lnSpc>
            </a:pPr>
            <a:r>
              <a:rPr lang="ko-KR" altLang="en-US" sz="1500" dirty="0"/>
              <a:t>딥러닝 </a:t>
            </a:r>
            <a:r>
              <a:rPr lang="en-US" altLang="ko-KR" sz="1500" dirty="0"/>
              <a:t>(Deep Learning): </a:t>
            </a:r>
            <a:r>
              <a:rPr lang="ko-KR" altLang="en-US" sz="1500" dirty="0"/>
              <a:t>인간의 뇌 신경망을 모방한 기술로</a:t>
            </a:r>
            <a:r>
              <a:rPr lang="en-US" altLang="ko-KR" sz="1500" dirty="0"/>
              <a:t>, </a:t>
            </a:r>
            <a:r>
              <a:rPr lang="ko-KR" altLang="en-US" sz="1500" dirty="0"/>
              <a:t>이미지 인식이나 복잡한 데이터 분석에 탁월</a:t>
            </a:r>
            <a:endParaRPr lang="en-US" altLang="ko-KR" sz="1500" dirty="0"/>
          </a:p>
          <a:p>
            <a:pPr lvl="1">
              <a:lnSpc>
                <a:spcPct val="200000"/>
              </a:lnSpc>
            </a:pPr>
            <a:r>
              <a:rPr lang="ko-KR" altLang="en-US" sz="1500" dirty="0"/>
              <a:t>자연어 처리 </a:t>
            </a:r>
            <a:r>
              <a:rPr lang="en-US" altLang="ko-KR" sz="1500" dirty="0"/>
              <a:t>(NLP): </a:t>
            </a:r>
            <a:r>
              <a:rPr lang="ko-KR" altLang="en-US" sz="1500" dirty="0"/>
              <a:t>기계가 인간의 언어를 이해하고 소통하게 해주는 기술</a:t>
            </a:r>
            <a:endParaRPr lang="en-US" altLang="ko-KR" sz="1500" dirty="0"/>
          </a:p>
          <a:p>
            <a:pPr lvl="1">
              <a:lnSpc>
                <a:spcPct val="200000"/>
              </a:lnSpc>
            </a:pPr>
            <a:r>
              <a:rPr lang="ko-KR" altLang="en-US" sz="1500" dirty="0"/>
              <a:t>생성형 </a:t>
            </a:r>
            <a:r>
              <a:rPr lang="en-US" altLang="ko-KR" sz="1500" dirty="0"/>
              <a:t>AI (Generative AI): </a:t>
            </a:r>
            <a:r>
              <a:rPr lang="ko-KR" altLang="en-US" sz="1500" dirty="0"/>
              <a:t>텍스트</a:t>
            </a:r>
            <a:r>
              <a:rPr lang="en-US" altLang="ko-KR" sz="1500" dirty="0"/>
              <a:t>, </a:t>
            </a:r>
            <a:r>
              <a:rPr lang="ko-KR" altLang="en-US" sz="1500" dirty="0"/>
              <a:t>이미지</a:t>
            </a:r>
            <a:r>
              <a:rPr lang="en-US" altLang="ko-KR" sz="1500" dirty="0"/>
              <a:t>, </a:t>
            </a:r>
            <a:r>
              <a:rPr lang="ko-KR" altLang="en-US" sz="1500" dirty="0"/>
              <a:t>코드 등 기존에 없던 새로운 콘텐츠를 생성하는 인공지능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DA2C81-887A-7479-1BB0-650155CC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5AED-71A1-493A-89D3-D69D4F29E4C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140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33E666-C813-33E4-5597-F87F61665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glass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A60524-545E-AB0F-FA65-5E949C104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200000"/>
              </a:lnSpc>
            </a:pPr>
            <a:r>
              <a:rPr lang="ko-KR" altLang="en-US" dirty="0"/>
              <a:t>주요 기능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ko-KR" altLang="en-US" dirty="0" err="1"/>
              <a:t>핸즈프리</a:t>
            </a:r>
            <a:r>
              <a:rPr lang="ko-KR" altLang="en-US" dirty="0"/>
              <a:t> 촬영</a:t>
            </a:r>
            <a:r>
              <a:rPr lang="en-US" altLang="ko-KR" dirty="0"/>
              <a:t>: </a:t>
            </a:r>
            <a:r>
              <a:rPr lang="ko-KR" altLang="en-US" dirty="0"/>
              <a:t>스마트폰을 꺼내지 않고 눈앞의 시선을 </a:t>
            </a:r>
            <a:r>
              <a:rPr lang="en-US" altLang="ko-KR" dirty="0"/>
              <a:t>1</a:t>
            </a:r>
            <a:r>
              <a:rPr lang="ko-KR" altLang="en-US" dirty="0"/>
              <a:t>인칭 시점의 고화질 사진이나 영상으로 즉시 녹화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ko-KR" altLang="en-US" dirty="0"/>
              <a:t>실시간 번역 및 인식</a:t>
            </a:r>
            <a:r>
              <a:rPr lang="en-US" altLang="ko-KR" dirty="0"/>
              <a:t>: </a:t>
            </a:r>
            <a:r>
              <a:rPr lang="ko-KR" altLang="en-US" dirty="0"/>
              <a:t>카메라로 외국어 표지판이나 메뉴판을 보면 실시간으로 번역해 주고</a:t>
            </a:r>
            <a:r>
              <a:rPr lang="en-US" altLang="ko-KR" dirty="0"/>
              <a:t>, </a:t>
            </a:r>
            <a:r>
              <a:rPr lang="ko-KR" altLang="en-US" dirty="0"/>
              <a:t>사물을 인식해 정보를 제공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ko-KR" altLang="en-US" dirty="0"/>
              <a:t>음성 </a:t>
            </a:r>
            <a:r>
              <a:rPr lang="en-US" altLang="ko-KR" dirty="0"/>
              <a:t>AI </a:t>
            </a:r>
            <a:r>
              <a:rPr lang="ko-KR" altLang="en-US" dirty="0"/>
              <a:t>비서</a:t>
            </a:r>
            <a:r>
              <a:rPr lang="en-US" altLang="ko-KR" dirty="0"/>
              <a:t>: </a:t>
            </a:r>
            <a:r>
              <a:rPr lang="ko-KR" altLang="en-US" dirty="0"/>
              <a:t>내장 마이크와 스피커를 통해 말로 질문하고</a:t>
            </a:r>
            <a:r>
              <a:rPr lang="en-US" altLang="ko-KR" dirty="0"/>
              <a:t>, </a:t>
            </a:r>
            <a:r>
              <a:rPr lang="ko-KR" altLang="en-US" dirty="0"/>
              <a:t>날씨</a:t>
            </a:r>
            <a:r>
              <a:rPr lang="en-US" altLang="ko-KR" dirty="0"/>
              <a:t>, </a:t>
            </a:r>
            <a:r>
              <a:rPr lang="ko-KR" altLang="en-US" dirty="0"/>
              <a:t>일정</a:t>
            </a:r>
            <a:r>
              <a:rPr lang="en-US" altLang="ko-KR" dirty="0"/>
              <a:t>, </a:t>
            </a:r>
            <a:r>
              <a:rPr lang="ko-KR" altLang="en-US" dirty="0"/>
              <a:t>메시지 등을 음성으로 바로 안내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ko-KR" altLang="en-US" dirty="0"/>
              <a:t>오픈 이어 오디오</a:t>
            </a:r>
            <a:r>
              <a:rPr lang="en-US" altLang="ko-KR" dirty="0"/>
              <a:t>: </a:t>
            </a:r>
            <a:r>
              <a:rPr lang="ko-KR" altLang="en-US" dirty="0"/>
              <a:t>귀를 막지 않는 스피커로 주변 소리를 들으면서 안전하게 음악을 듣거나 통화가 가능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E878FD-2676-406E-225D-B01B3C3F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5AED-71A1-493A-89D3-D69D4F29E4C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174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47145E-BA6A-B59E-A5B7-FF39D5331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714546-7E1F-0D0B-464B-2F3A9EB6E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200000"/>
              </a:lnSpc>
            </a:pPr>
            <a:r>
              <a:rPr lang="en-US" altLang="ko-KR" dirty="0"/>
              <a:t>Chat GPT</a:t>
            </a:r>
          </a:p>
          <a:p>
            <a:pPr>
              <a:lnSpc>
                <a:spcPct val="200000"/>
              </a:lnSpc>
            </a:pPr>
            <a:r>
              <a:rPr lang="en-US" altLang="ko-KR" dirty="0"/>
              <a:t>Gemini</a:t>
            </a:r>
          </a:p>
          <a:p>
            <a:pPr>
              <a:lnSpc>
                <a:spcPct val="200000"/>
              </a:lnSpc>
            </a:pPr>
            <a:r>
              <a:rPr lang="en-US" altLang="ko-KR" dirty="0"/>
              <a:t>Claude</a:t>
            </a:r>
          </a:p>
          <a:p>
            <a:pPr>
              <a:lnSpc>
                <a:spcPct val="200000"/>
              </a:lnSpc>
            </a:pPr>
            <a:r>
              <a:rPr lang="en-US" altLang="ko-KR" dirty="0"/>
              <a:t>Codex, Copilot</a:t>
            </a:r>
          </a:p>
          <a:p>
            <a:pPr>
              <a:lnSpc>
                <a:spcPct val="200000"/>
              </a:lnSpc>
            </a:pPr>
            <a:r>
              <a:rPr lang="en-US" altLang="ko-KR" dirty="0"/>
              <a:t>Canva</a:t>
            </a:r>
          </a:p>
          <a:p>
            <a:pPr>
              <a:lnSpc>
                <a:spcPct val="200000"/>
              </a:lnSpc>
            </a:pPr>
            <a:r>
              <a:rPr lang="en-US" altLang="ko-KR" dirty="0"/>
              <a:t>Dola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A2A0B9-454D-12EA-BFD6-EC3DE0704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5AED-71A1-493A-89D3-D69D4F29E4C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016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4717AA-BAC3-67BE-45FA-DAD172A07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주의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7DD034-EA52-E9A3-3FF2-204FB797F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dirty="0"/>
              <a:t>AI </a:t>
            </a:r>
            <a:r>
              <a:rPr lang="ko-KR" altLang="en-US" sz="2400" dirty="0"/>
              <a:t>이야기할 때</a:t>
            </a:r>
            <a:r>
              <a:rPr lang="en-US" altLang="ko-KR" sz="2400" dirty="0"/>
              <a:t>, </a:t>
            </a:r>
            <a:r>
              <a:rPr lang="ko-KR" altLang="en-US" sz="2400" dirty="0"/>
              <a:t>개인정보는 절대 넣지 않는다</a:t>
            </a:r>
            <a:r>
              <a:rPr lang="en-US" altLang="ko-KR" sz="2400" dirty="0"/>
              <a:t>.</a:t>
            </a:r>
          </a:p>
          <a:p>
            <a:pPr>
              <a:lnSpc>
                <a:spcPct val="200000"/>
              </a:lnSpc>
            </a:pPr>
            <a:r>
              <a:rPr lang="ko-KR" altLang="en-US" sz="2400" dirty="0"/>
              <a:t>환각</a:t>
            </a:r>
            <a:r>
              <a:rPr lang="en-US" altLang="ko-KR" sz="2400" dirty="0"/>
              <a:t>(</a:t>
            </a:r>
            <a:r>
              <a:rPr lang="en-US" altLang="ko-KR" sz="2400" dirty="0" err="1"/>
              <a:t>Halluciation</a:t>
            </a:r>
            <a:r>
              <a:rPr lang="en-US" altLang="ko-KR" sz="2400" dirty="0"/>
              <a:t>) : </a:t>
            </a:r>
            <a:r>
              <a:rPr lang="ko-KR" altLang="en-US" sz="2400" dirty="0"/>
              <a:t>없는 거 지어내기</a:t>
            </a:r>
            <a:r>
              <a:rPr lang="en-US" altLang="ko-KR" sz="2400" dirty="0"/>
              <a:t>, </a:t>
            </a:r>
            <a:r>
              <a:rPr lang="ko-KR" altLang="en-US" sz="2400" dirty="0"/>
              <a:t>거짓말</a:t>
            </a:r>
            <a:endParaRPr lang="en-US" altLang="ko-KR" sz="2400" dirty="0"/>
          </a:p>
          <a:p>
            <a:pPr lvl="1">
              <a:lnSpc>
                <a:spcPct val="200000"/>
              </a:lnSpc>
            </a:pPr>
            <a:r>
              <a:rPr lang="ko-KR" altLang="en-US" sz="2400" dirty="0"/>
              <a:t>크로스 체크</a:t>
            </a:r>
            <a:r>
              <a:rPr lang="en-US" altLang="ko-KR" sz="2400" dirty="0"/>
              <a:t>(</a:t>
            </a:r>
            <a:r>
              <a:rPr lang="ko-KR" altLang="en-US" sz="2400" dirty="0"/>
              <a:t>교차검증</a:t>
            </a:r>
            <a:r>
              <a:rPr lang="en-US" altLang="ko-KR" sz="2400" dirty="0"/>
              <a:t>)</a:t>
            </a:r>
          </a:p>
          <a:p>
            <a:pPr>
              <a:lnSpc>
                <a:spcPct val="200000"/>
              </a:lnSpc>
            </a:pPr>
            <a:r>
              <a:rPr lang="ko-KR" altLang="en-US" sz="2400" dirty="0"/>
              <a:t>아첨</a:t>
            </a:r>
            <a:r>
              <a:rPr lang="en-US" altLang="ko-KR" sz="2400" dirty="0"/>
              <a:t>(Sycophancy) – </a:t>
            </a:r>
            <a:r>
              <a:rPr lang="ko-KR" altLang="en-US" sz="2400" dirty="0"/>
              <a:t>내편에서 이야기한다는 것을 전제로</a:t>
            </a:r>
            <a:endParaRPr lang="en-US" altLang="ko-KR" sz="2400" dirty="0"/>
          </a:p>
          <a:p>
            <a:pPr>
              <a:lnSpc>
                <a:spcPct val="200000"/>
              </a:lnSpc>
            </a:pPr>
            <a:endParaRPr lang="ko-KR" altLang="en-US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B76542-1FED-7630-D107-B77CDE6BE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5AED-71A1-493A-89D3-D69D4F29E4C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210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4AE671-78D4-BACE-CBE7-FB2E1D93C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공부란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390D2B-50DF-2A48-3BDE-AF1789226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200000"/>
              </a:lnSpc>
            </a:pPr>
            <a:r>
              <a:rPr lang="ko-KR" altLang="en-US" dirty="0"/>
              <a:t>내가 모른다는 사실을 정확하게 알고</a:t>
            </a:r>
            <a:r>
              <a:rPr lang="en-US" altLang="ko-KR" dirty="0"/>
              <a:t>, (</a:t>
            </a:r>
            <a:r>
              <a:rPr lang="ko-KR" altLang="en-US" dirty="0"/>
              <a:t>고민</a:t>
            </a:r>
            <a:r>
              <a:rPr lang="en-US" altLang="ko-KR" dirty="0"/>
              <a:t>?)</a:t>
            </a:r>
          </a:p>
          <a:p>
            <a:pPr lvl="1">
              <a:lnSpc>
                <a:spcPct val="200000"/>
              </a:lnSpc>
            </a:pPr>
            <a:r>
              <a:rPr lang="ko-KR" altLang="en-US" dirty="0"/>
              <a:t>메타인지</a:t>
            </a:r>
            <a:endParaRPr lang="en-US" altLang="ko-KR" dirty="0"/>
          </a:p>
          <a:p>
            <a:pPr>
              <a:lnSpc>
                <a:spcPct val="200000"/>
              </a:lnSpc>
            </a:pPr>
            <a:r>
              <a:rPr lang="ko-KR" altLang="en-US" dirty="0"/>
              <a:t>모르는 지식을 내 걸로 만들어가는 과정</a:t>
            </a:r>
            <a:r>
              <a:rPr lang="en-US" altLang="ko-KR" dirty="0"/>
              <a:t>.</a:t>
            </a:r>
          </a:p>
          <a:p>
            <a:pPr>
              <a:lnSpc>
                <a:spcPct val="200000"/>
              </a:lnSpc>
            </a:pPr>
            <a:r>
              <a:rPr lang="ko-KR" altLang="en-US" dirty="0"/>
              <a:t>스스로 질문해야 한다</a:t>
            </a:r>
            <a:r>
              <a:rPr lang="en-US" altLang="ko-KR" dirty="0"/>
              <a:t>.</a:t>
            </a:r>
          </a:p>
          <a:p>
            <a:pPr lvl="1">
              <a:lnSpc>
                <a:spcPct val="200000"/>
              </a:lnSpc>
            </a:pPr>
            <a:r>
              <a:rPr lang="ko-KR" altLang="en-US" dirty="0"/>
              <a:t>최소 </a:t>
            </a:r>
            <a:r>
              <a:rPr lang="en-US" altLang="ko-KR" dirty="0"/>
              <a:t>3</a:t>
            </a:r>
            <a:r>
              <a:rPr lang="ko-KR" altLang="en-US" dirty="0"/>
              <a:t>개 이상</a:t>
            </a:r>
            <a:r>
              <a:rPr lang="en-US" altLang="ko-KR" dirty="0"/>
              <a:t>.</a:t>
            </a:r>
          </a:p>
          <a:p>
            <a:pPr>
              <a:lnSpc>
                <a:spcPct val="200000"/>
              </a:lnSpc>
            </a:pPr>
            <a:r>
              <a:rPr lang="ko-KR" altLang="en-US" dirty="0"/>
              <a:t>반복</a:t>
            </a:r>
            <a:r>
              <a:rPr lang="en-US" altLang="ko-KR" dirty="0"/>
              <a:t>(</a:t>
            </a:r>
            <a:r>
              <a:rPr lang="ko-KR" altLang="en-US" dirty="0" err="1"/>
              <a:t>에빙하우스</a:t>
            </a:r>
            <a:r>
              <a:rPr lang="ko-KR" altLang="en-US" dirty="0"/>
              <a:t> 망각곡선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99D017-8880-C386-9FFE-5402F6DDD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5AED-71A1-493A-89D3-D69D4F29E4C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203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EE5A31-D954-FFE6-1BD5-F001A3EC5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</a:t>
            </a:r>
            <a:r>
              <a:rPr lang="ko-KR" altLang="en-US" dirty="0"/>
              <a:t>를 활용하여 문제 풀기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AFBA96-3912-D01F-FC2D-B641828E7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DE9C9C-F511-EA02-7E26-B135EF2C7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5AED-71A1-493A-89D3-D69D4F29E4C9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0809B6A-EFDF-0C32-37B4-7D40F4617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193" y="1598317"/>
            <a:ext cx="4501805" cy="477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617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1571C2-92BD-33B3-2719-675BC1911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FC4E9D-DD8D-7239-4685-F1128BC90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Vscode</a:t>
            </a:r>
            <a:r>
              <a:rPr lang="en-US" altLang="ko-KR" dirty="0"/>
              <a:t> : </a:t>
            </a:r>
            <a:r>
              <a:rPr lang="ko-KR" altLang="en-US" dirty="0"/>
              <a:t>편집기</a:t>
            </a:r>
            <a:endParaRPr lang="en-US" altLang="ko-KR" dirty="0"/>
          </a:p>
          <a:p>
            <a:r>
              <a:rPr lang="ko-KR" altLang="en-US" dirty="0"/>
              <a:t>실행해주는 </a:t>
            </a:r>
            <a:r>
              <a:rPr lang="ko-KR" altLang="en-US" dirty="0" err="1"/>
              <a:t>무언가가</a:t>
            </a:r>
            <a:r>
              <a:rPr lang="en-US" altLang="ko-KR" dirty="0"/>
              <a:t>? </a:t>
            </a:r>
            <a:r>
              <a:rPr lang="ko-KR" altLang="en-US" dirty="0"/>
              <a:t>번역기</a:t>
            </a:r>
            <a:endParaRPr lang="en-US" altLang="ko-KR" dirty="0"/>
          </a:p>
          <a:p>
            <a:r>
              <a:rPr lang="ko-KR" altLang="en-US" dirty="0"/>
              <a:t>파이썬 프로그램 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-&gt; </a:t>
            </a:r>
            <a:r>
              <a:rPr lang="ko-KR" altLang="en-US" dirty="0"/>
              <a:t>기계어</a:t>
            </a:r>
            <a:r>
              <a:rPr lang="en-US" altLang="ko-KR" dirty="0"/>
              <a:t>(</a:t>
            </a:r>
            <a:r>
              <a:rPr lang="ko-KR" altLang="en-US" dirty="0"/>
              <a:t>컴퓨터가 인식할 수 있는 언어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D955B6-6839-3980-C4E3-5121F36A1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5AED-71A1-493A-89D3-D69D4F29E4C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220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C26732-645C-C4D4-64C7-8774AA44D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67653E-026D-2681-5F93-CDC0B4E9E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Vscode</a:t>
            </a:r>
            <a:r>
              <a:rPr lang="en-US" altLang="ko-KR" dirty="0"/>
              <a:t> </a:t>
            </a:r>
            <a:r>
              <a:rPr lang="ko-KR" altLang="en-US" dirty="0"/>
              <a:t>설치</a:t>
            </a:r>
            <a:endParaRPr lang="en-US" altLang="ko-KR" dirty="0"/>
          </a:p>
          <a:p>
            <a:r>
              <a:rPr lang="ko-KR" altLang="en-US" dirty="0"/>
              <a:t>파이썬 설치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E54EE0-EAAD-71DE-39BF-1A4384927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5AED-71A1-493A-89D3-D69D4F29E4C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20002"/>
      </p:ext>
    </p:extLst>
  </p:cSld>
  <p:clrMapOvr>
    <a:masterClrMapping/>
  </p:clrMapOvr>
</p:sld>
</file>

<file path=ppt/theme/theme1.xml><?xml version="1.0" encoding="utf-8"?>
<a:theme xmlns:a="http://schemas.openxmlformats.org/drawingml/2006/main" name="New_3D02">
  <a:themeElements>
    <a:clrScheme name="3D02">
      <a:dk1>
        <a:sysClr val="windowText" lastClr="000000"/>
      </a:dk1>
      <a:lt1>
        <a:sysClr val="window" lastClr="FFFFFF"/>
      </a:lt1>
      <a:dk2>
        <a:srgbClr val="254B75"/>
      </a:dk2>
      <a:lt2>
        <a:srgbClr val="DDE9EC"/>
      </a:lt2>
      <a:accent1>
        <a:srgbClr val="6183BB"/>
      </a:accent1>
      <a:accent2>
        <a:srgbClr val="96DB6F"/>
      </a:accent2>
      <a:accent3>
        <a:srgbClr val="42BCC2"/>
      </a:accent3>
      <a:accent4>
        <a:srgbClr val="EE8F48"/>
      </a:accent4>
      <a:accent5>
        <a:srgbClr val="44C4F2"/>
      </a:accent5>
      <a:accent6>
        <a:srgbClr val="A09158"/>
      </a:accent6>
      <a:hlink>
        <a:srgbClr val="B292CA"/>
      </a:hlink>
      <a:folHlink>
        <a:srgbClr val="6B5680"/>
      </a:folHlink>
    </a:clrScheme>
    <a:fontScheme name="3D02">
      <a:majorFont>
        <a:latin typeface="Arial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Arial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3D0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50000"/>
              </a:schemeClr>
            </a:gs>
            <a:gs pos="35000">
              <a:schemeClr val="phClr">
                <a:tint val="40000"/>
                <a:satMod val="200000"/>
              </a:schemeClr>
            </a:gs>
            <a:gs pos="100000">
              <a:schemeClr val="phClr">
                <a:tint val="15000"/>
                <a:satMod val="200000"/>
              </a:schemeClr>
            </a:gs>
          </a:gsLst>
          <a:lin ang="16200000" scaled="1"/>
        </a:gradFill>
        <a:gradFill rotWithShape="1">
          <a:gsLst>
            <a:gs pos="10000">
              <a:schemeClr val="phClr">
                <a:shade val="40000"/>
                <a:satMod val="200000"/>
              </a:schemeClr>
            </a:gs>
            <a:gs pos="65000">
              <a:schemeClr val="phClr">
                <a:shade val="93000"/>
                <a:satMod val="130000"/>
              </a:schemeClr>
            </a:gs>
            <a:gs pos="100000">
              <a:schemeClr val="phClr">
                <a:tint val="70000"/>
                <a:shade val="100000"/>
                <a:satMod val="200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27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"/>
          </a:scene3d>
          <a:sp3d prstMaterial="dkEdge">
            <a:bevelT w="63500" h="57150"/>
          </a:sp3d>
        </a:effectStyle>
        <a:effectStyle>
          <a:effectLst>
            <a:outerShdw blurRad="50800" dist="38100" dir="2700000" rotWithShape="0">
              <a:srgbClr val="000000">
                <a:alpha val="37000"/>
              </a:srgbClr>
            </a:outerShdw>
          </a:effectLst>
          <a:scene3d>
            <a:camera prst="orthographicFront">
              <a:rot lat="0" lon="0" rev="0"/>
            </a:camera>
            <a:lightRig rig="flat" dir="t"/>
          </a:scene3d>
          <a:sp3d prstMaterial="dkEdge">
            <a:bevelT w="88900" h="82550"/>
          </a:sp3d>
        </a:effectStyle>
        <a:effectStyle>
          <a:effectLst>
            <a:outerShdw blurRad="50800" dist="38100" dir="27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flat" dir="t"/>
          </a:scene3d>
          <a:sp3d prstMaterial="dkEdge">
            <a:bevelT w="114300" h="107950"/>
          </a:sp3d>
        </a:effectStyle>
      </a:effectStyleLst>
      <a:bgFillStyleLst>
        <a:solidFill>
          <a:schemeClr val="phClr"/>
        </a:solidFill>
        <a:gradFill rotWithShape="1">
          <a:gsLst>
            <a:gs pos="7000">
              <a:schemeClr val="phClr">
                <a:tint val="100000"/>
                <a:shade val="60000"/>
                <a:satMod val="180000"/>
              </a:schemeClr>
            </a:gs>
            <a:gs pos="48000">
              <a:schemeClr val="phClr">
                <a:tint val="83000"/>
                <a:shade val="100000"/>
                <a:satMod val="300000"/>
              </a:schemeClr>
            </a:gs>
            <a:gs pos="83000">
              <a:schemeClr val="phClr">
                <a:tint val="99000"/>
                <a:shade val="100000"/>
                <a:satMod val="180000"/>
              </a:schemeClr>
            </a:gs>
            <a:gs pos="100000">
              <a:schemeClr val="phClr">
                <a:shade val="60000"/>
                <a:satMod val="180000"/>
                <a:lumMod val="90000"/>
              </a:schemeClr>
            </a:gs>
          </a:gsLst>
          <a:lin ang="2700000" scaled="1"/>
        </a:gradFill>
        <a:gradFill rotWithShape="1">
          <a:gsLst>
            <a:gs pos="0">
              <a:schemeClr val="phClr">
                <a:tint val="90000"/>
                <a:satMod val="250000"/>
              </a:schemeClr>
            </a:gs>
            <a:gs pos="59000">
              <a:schemeClr val="phClr">
                <a:shade val="80000"/>
                <a:satMod val="130000"/>
              </a:schemeClr>
            </a:gs>
            <a:gs pos="100000">
              <a:schemeClr val="phClr">
                <a:shade val="50000"/>
                <a:satMod val="110000"/>
              </a:schemeClr>
            </a:gs>
          </a:gsLst>
          <a:path path="circle">
            <a:fillToRect l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TM10237557[[fn=디지털 테마]]</Template>
  <TotalTime>141</TotalTime>
  <Words>311</Words>
  <Application>Microsoft Office PowerPoint</Application>
  <PresentationFormat>와이드스크린</PresentationFormat>
  <Paragraphs>61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New_3D02</vt:lpstr>
      <vt:lpstr>인공지능과 바이브 코딩</vt:lpstr>
      <vt:lpstr>차례</vt:lpstr>
      <vt:lpstr>인공지능이란?</vt:lpstr>
      <vt:lpstr>AI glass</vt:lpstr>
      <vt:lpstr>생성형 AI 종류</vt:lpstr>
      <vt:lpstr>주의 사항</vt:lpstr>
      <vt:lpstr>공부란?</vt:lpstr>
      <vt:lpstr>생성형 AI를 활용하여 문제 풀기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UC</dc:creator>
  <cp:lastModifiedBy>UC</cp:lastModifiedBy>
  <cp:revision>1</cp:revision>
  <dcterms:created xsi:type="dcterms:W3CDTF">2026-07-24T03:57:23Z</dcterms:created>
  <dcterms:modified xsi:type="dcterms:W3CDTF">2026-07-24T06:18:47Z</dcterms:modified>
</cp:coreProperties>
</file>